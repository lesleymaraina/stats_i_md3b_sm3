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Bootstrap Estimation for Mean and Median Biomarker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Lesley Chapman Hannah, Ph.D., M.S.College of Graduate StudiesNortheast Ohio Medical University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Previous lectures established what is typically estimated in statistical analysis—defining population quantities and constructing estimators to compare groups [i.e.: mean differences, risk differences, odds ratios]</a:t>
            </a:r>
          </a:p>
          <a:p>
            <a:pPr lvl="0" indent="0" marL="0">
              <a:buNone/>
            </a:pPr>
            <a:r>
              <a:rPr/>
              <a:t>Current lecture focuses on the following:</a:t>
            </a:r>
          </a:p>
          <a:p>
            <a:pPr lvl="0" indent="0" marL="1270000">
              <a:buNone/>
            </a:pPr>
            <a:r>
              <a:rPr sz="2000"/>
              <a:t>Given an estimator and a single observed dataset, how do we quantify its sampling variability when formulas rely on assumptions that may not reflect the observed data?</a:t>
            </a:r>
          </a:p>
          <a:p>
            <a:pPr lvl="0" indent="0" marL="0">
              <a:buNone/>
            </a:pPr>
            <a:r>
              <a:rPr/>
              <a:t>Bootstrap resampling provides a data-driven way to approximate the sampling distribution of an estimator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define bootstrap resampling as a method for estimating sampling variability</a:t>
            </a:r>
          </a:p>
          <a:p>
            <a:pPr lvl="0"/>
            <a:r>
              <a:rPr/>
              <a:t>interpret a bootstrap standard error and bootstrap confidence interval</a:t>
            </a:r>
          </a:p>
          <a:p>
            <a:pPr lvl="0"/>
            <a:r>
              <a:rPr/>
              <a:t>explain why robust estimators are useful for skewed or outlier-prone biomedical measurements</a:t>
            </a:r>
          </a:p>
          <a:p>
            <a:pPr lvl="0"/>
            <a:r>
              <a:rPr/>
              <a:t>compare the mean and median as estimators of a typical biomarker value</a:t>
            </a:r>
          </a:p>
          <a:p>
            <a:pPr lvl="0"/>
            <a:r>
              <a:rPr/>
              <a:t>choose an estimation strategy based on the estimand, data structure, assumptions, and scientific question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Bootstrap: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bootstrap</a:t>
            </a:r>
            <a:r>
              <a:rPr/>
              <a:t>: an approach that approximates the sampling distribution of an estimator by repeatedly resampling from the observed data with replacement</a:t>
            </a:r>
          </a:p>
          <a:p>
            <a:pPr lvl="0" indent="0" marL="0">
              <a:buNone/>
            </a:pPr>
            <a:r>
              <a:rPr/>
              <a:t>Bootstrap Approach:</a:t>
            </a:r>
          </a:p>
          <a:p>
            <a:pPr lvl="0"/>
            <a:r>
              <a:rPr/>
              <a:t>treats the observed dataset as a proxy for the population</a:t>
            </a:r>
          </a:p>
          <a:p>
            <a:pPr lvl="0"/>
            <a:r>
              <a:rPr/>
              <a:t>generates many “new” samples by sampling with replacement</a:t>
            </a:r>
          </a:p>
          <a:p>
            <a:pPr lvl="0"/>
            <a:r>
              <a:rPr/>
              <a:t>computes the estimator in each resample</a:t>
            </a:r>
          </a:p>
          <a:p>
            <a:pPr lvl="0"/>
            <a:r>
              <a:rPr/>
              <a:t>uses the resulting distribution to quantify variability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Bootstrap: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within statistical estimation include:</a:t>
            </a:r>
          </a:p>
          <a:p>
            <a:pPr lvl="0"/>
            <a:r>
              <a:rPr/>
              <a:t>how much an estimate varies across samples</a:t>
            </a:r>
          </a:p>
          <a:p>
            <a:pPr lvl="0"/>
            <a:r>
              <a:rPr/>
              <a:t>how precise the estimate is</a:t>
            </a:r>
          </a:p>
          <a:p>
            <a:pPr lvl="0"/>
            <a:r>
              <a:rPr/>
              <a:t>what values are plausible for the population</a:t>
            </a:r>
          </a:p>
          <a:p>
            <a:pPr lvl="0" indent="0" marL="0">
              <a:buNone/>
            </a:pPr>
            <a:r>
              <a:rPr/>
              <a:t>Approaches rely on:</a:t>
            </a:r>
          </a:p>
          <a:p>
            <a:pPr lvl="0"/>
            <a:r>
              <a:rPr/>
              <a:t>known sampling distributions</a:t>
            </a:r>
          </a:p>
          <a:p>
            <a:pPr lvl="0"/>
            <a:r>
              <a:rPr/>
              <a:t>analytic standard error formulas</a:t>
            </a:r>
          </a:p>
          <a:p>
            <a:pPr lvl="0"/>
            <a:r>
              <a:rPr/>
              <a:t>assumptions about the data [i.e.: normality]</a:t>
            </a:r>
          </a:p>
          <a:p>
            <a:pPr lvl="0" indent="0" marL="0">
              <a:buNone/>
            </a:pPr>
            <a:r>
              <a:rPr/>
              <a:t>However in certain cases: assumptions do not align with observed data</a:t>
            </a:r>
          </a:p>
          <a:p>
            <a:pPr lvl="0"/>
            <a:r>
              <a:rPr/>
              <a:t>closed-form methods for estimating uncertainty rely on assumptions about the data are true in order to estimate sample variability [i.e.: normality and simple variance structure]</a:t>
            </a:r>
          </a:p>
          <a:p>
            <a:pPr lvl="0"/>
            <a:r>
              <a:rPr/>
              <a:t>bootstrap methods estimate uncertainty by repeatedly resampling the data and observing how the estimate changes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Overview: Bootstrap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Given observed data of size n:</a:t>
            </a:r>
          </a:p>
          <a:p>
            <a:pPr lvl="0" indent="0" marL="0">
              <a:buNone/>
            </a:pPr>
            <a:r>
              <a:rPr b="1"/>
              <a:t>1. Resample with replacement</a:t>
            </a:r>
          </a:p>
          <a:p>
            <a:pPr lvl="0"/>
            <a:r>
              <a:rPr/>
              <a:t>draw a sample of size n from the original data</a:t>
            </a:r>
          </a:p>
          <a:p>
            <a:pPr lvl="0" indent="0" marL="0">
              <a:buNone/>
            </a:pPr>
            <a:r>
              <a:rPr b="1"/>
              <a:t>2. Compute the estimator</a:t>
            </a:r>
            <a:r>
              <a:rPr/>
              <a:t> - i.e.: mean, median, risk difference</a:t>
            </a:r>
          </a:p>
          <a:p>
            <a:pPr lvl="0" indent="0" marL="0">
              <a:buNone/>
            </a:pPr>
            <a:r>
              <a:rPr b="1"/>
              <a:t>3. Repeat many times</a:t>
            </a:r>
            <a:r>
              <a:rPr/>
              <a:t> - i.e.: 1,000+ resamples</a:t>
            </a:r>
          </a:p>
          <a:p>
            <a:pPr lvl="0" indent="0" marL="0">
              <a:buNone/>
            </a:pPr>
            <a:r>
              <a:rPr b="1"/>
              <a:t>4. Form the bootstrap distribution</a:t>
            </a:r>
            <a:r>
              <a:rPr/>
              <a:t> - collection of all computed estimates</a:t>
            </a:r>
          </a:p>
          <a:p>
            <a:pPr lvl="0" indent="0" marL="0">
              <a:buNone/>
            </a:pPr>
            <a:r>
              <a:rPr/>
              <a:t>Resulting distribution approximates the sampling distribution of the estimator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Overview: Bootstrap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bootstrap distribution, we can estimate:</a:t>
            </a:r>
          </a:p>
          <a:p>
            <a:pPr lvl="0" indent="-342900" marL="342900">
              <a:buAutoNum type="arabicPeriod"/>
            </a:pPr>
            <a:r>
              <a:rPr b="1"/>
              <a:t>Standard error</a:t>
            </a:r>
            <a:r>
              <a:rPr/>
              <a:t>: measures variability across resamples</a:t>
            </a:r>
          </a:p>
          <a:p>
            <a:pPr lvl="0" indent="-342900" marL="342900">
              <a:buAutoNum type="arabicPeriod"/>
            </a:pPr>
            <a:r>
              <a:rPr b="1"/>
              <a:t>Confidence intervals</a:t>
            </a:r>
            <a:r>
              <a:rPr/>
              <a:t>: provides a plausible range for the population parameter</a:t>
            </a:r>
          </a:p>
          <a:p>
            <a:pPr lvl="0" indent="-342900" marL="342900">
              <a:buAutoNum type="arabicPeriod"/>
            </a:pPr>
            <a:r>
              <a:rPr b="1"/>
              <a:t>Shape of the sampling distribution</a:t>
            </a:r>
            <a:r>
              <a:rPr/>
              <a:t> :</a:t>
            </a:r>
          </a:p>
          <a:p>
            <a:pPr lvl="0"/>
            <a:r>
              <a:rPr/>
              <a:t>symmetry vs skewness</a:t>
            </a:r>
          </a:p>
          <a:p>
            <a:pPr lvl="0"/>
            <a:r>
              <a:rPr/>
              <a:t>sensitivity to outliers</a:t>
            </a:r>
          </a:p>
          <a:p>
            <a:pPr lvl="0"/>
            <a:r>
              <a:rPr/>
              <a:t>stability of the estimator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Estimating Typical Tumor Mutation Burden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Background</a:t>
            </a:r>
          </a:p>
          <a:p>
            <a:pPr lvl="0" indent="0" marL="0">
              <a:buNone/>
            </a:pPr>
            <a:r>
              <a:rPr/>
              <a:t>Investigators are studying tumor genomic profiles from patients with solid tumors.</a:t>
            </a:r>
          </a:p>
          <a:p>
            <a:pPr lvl="0" indent="0" marL="0">
              <a:buNone/>
            </a:pPr>
            <a:r>
              <a:rPr/>
              <a:t>The quantitative genomic measure of interest is tumor mutation burden, or TMB.</a:t>
            </a:r>
          </a:p>
          <a:p>
            <a:pPr lvl="0" indent="0" marL="0">
              <a:buNone/>
            </a:pPr>
            <a:r>
              <a:rPr/>
              <a:t>Tumor mutation burden is the number of somatic mutations observed per megabase of sequenced tumor DNA.</a:t>
            </a:r>
          </a:p>
          <a:p>
            <a:pPr lvl="0" indent="0" marL="0">
              <a:buNone/>
            </a:pPr>
            <a:r>
              <a:rPr/>
              <a:t>TMB provides a summary of how many mutations are present in a tumor genome and is commonly used to describe variation in tumor genomic profiles across patients.</a:t>
            </a:r>
          </a:p>
          <a:p>
            <a:pPr lvl="0" indent="0" marL="0">
              <a:buNone/>
            </a:pPr>
            <a:r>
              <a:rPr/>
              <a:t>In this study, TMB is measured from tumor sequencing data to summarize the mutational profile of the patient cohort.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Estimating Typical Tumor Mutation Burden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Background</a:t>
            </a:r>
          </a:p>
          <a:p>
            <a:pPr lvl="0" indent="0" marL="0">
              <a:buNone/>
            </a:pPr>
            <a:r>
              <a:rPr/>
              <a:t>TMB values are often right-skewed:</a:t>
            </a:r>
          </a:p>
          <a:p>
            <a:pPr lvl="0"/>
            <a:r>
              <a:rPr/>
              <a:t>many tumors have low-to-moderate mutation burden</a:t>
            </a:r>
          </a:p>
          <a:p>
            <a:pPr lvl="0"/>
            <a:r>
              <a:rPr/>
              <a:t>fewer tumors have very high mutation burden</a:t>
            </a:r>
          </a:p>
          <a:p>
            <a:pPr lvl="0"/>
            <a:r>
              <a:rPr/>
              <a:t>extreme values can pull the mean upward</a:t>
            </a:r>
          </a:p>
          <a:p>
            <a:pPr lvl="0" indent="0" marL="0">
              <a:buNone/>
            </a:pPr>
            <a:r>
              <a:rPr/>
              <a:t>Investigators want to estimate:</a:t>
            </a:r>
          </a:p>
          <a:p>
            <a:pPr lvl="0" indent="0" marL="1270000">
              <a:buNone/>
            </a:pPr>
            <a:r>
              <a:rPr sz="2000"/>
              <a:t>What is a typical tumor mutation burden among patients in this sequencing cohort?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Simulated Tumor Mutation Burden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5 × 6
  patient_id tumor_type tumor_stage   age   tmb high_tmb_status
       &lt;int&gt; &lt;chr&gt;      &lt;chr&gt;       &lt;dbl&gt; &lt;dbl&gt;           &lt;int&gt;
1          1 Colorectal III            58  2.7                1
2          2 Lung       III            76 11.5                0
3          3 Melanoma   III            76  5.47               0
4          4 Colorectal II             53 11.0                0
5          5 Breast     II             54  4.79               0</a:t>
            </a:r>
          </a:p>
          <a:p>
            <a:pPr lvl="0" indent="0" marL="0">
              <a:buNone/>
            </a:pPr>
            <a:r>
              <a:rPr b="1"/>
              <a:t>Dataset Overview</a:t>
            </a:r>
          </a:p>
          <a:p>
            <a:pPr lvl="0" indent="0" marL="0">
              <a:buNone/>
            </a:pPr>
            <a:r>
              <a:rPr/>
              <a:t>each row represents one tumor sample from one patient</a:t>
            </a:r>
          </a:p>
          <a:p>
            <a:pPr lvl="0"/>
            <a:r>
              <a:rPr>
                <a:latin typeface="Courier"/>
              </a:rPr>
              <a:t>tmb</a:t>
            </a:r>
            <a:r>
              <a:rPr/>
              <a:t> : tumor mutation burden measured as mutations per megabase</a:t>
            </a:r>
          </a:p>
          <a:p>
            <a:pPr lvl="0"/>
            <a:r>
              <a:rPr>
                <a:latin typeface="Courier"/>
              </a:rPr>
              <a:t>tumor_type</a:t>
            </a:r>
            <a:r>
              <a:rPr/>
              <a:t> : cancer type represented in the sequencing cohort</a:t>
            </a:r>
          </a:p>
          <a:p>
            <a:pPr lvl="0"/>
            <a:r>
              <a:rPr>
                <a:latin typeface="Courier"/>
              </a:rPr>
              <a:t>tumor_stage</a:t>
            </a:r>
            <a:r>
              <a:rPr/>
              <a:t> : clinical stage at sampling</a:t>
            </a:r>
          </a:p>
          <a:p>
            <a:pPr lvl="0"/>
            <a:r>
              <a:rPr>
                <a:latin typeface="Courier"/>
              </a:rPr>
              <a:t>age</a:t>
            </a:r>
            <a:r>
              <a:rPr/>
              <a:t> : patient age at sequencing</a:t>
            </a:r>
          </a:p>
          <a:p>
            <a:pPr lvl="0"/>
            <a:r>
              <a:rPr>
                <a:latin typeface="Courier"/>
              </a:rPr>
              <a:t>high_tmb_status</a:t>
            </a:r>
            <a:r>
              <a:rPr/>
              <a:t> : binary indicator for whether TMB is at least 10 mutations per megabase</a:t>
            </a:r>
          </a:p>
          <a:p>
            <a:pPr lvl="0" indent="0" marL="0">
              <a:buNone/>
            </a:pPr>
            <a:r>
              <a:rPr/>
              <a:t>:::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Scientific Question and Estimands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scientific question:</a:t>
                </a:r>
              </a:p>
              <a:p>
                <a:pPr lvl="0" indent="0" marL="1270000">
                  <a:buNone/>
                </a:pPr>
                <a:r>
                  <a:rPr sz="2000"/>
                  <a:t>What is a typical tumor mutation burden among patients with solid tumors in the target sequencing population?</a:t>
                </a:r>
              </a:p>
              <a:p>
                <a:pPr lvl="0" indent="0" marL="0">
                  <a:buNone/>
                </a:pPr>
                <a:r>
                  <a:rPr/>
                  <a:t>Population quantities of interest: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= population mean tumor mutation burden </a:t>
                </a: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  <m:r>
                          <m:t>i</m:t>
                        </m:r>
                        <m:r>
                          <m:t>a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= population median tumor mutation burden</a:t>
                </a:r>
              </a:p>
              <a:p>
                <a:pPr lvl="0" indent="0" marL="0">
                  <a:buNone/>
                </a:pPr>
                <a:r>
                  <a:rPr/>
                  <a:t>Corresponding estimators: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sample mean tumor mutation burden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sample median tumor mutation burden</a:t>
                </a:r>
              </a:p>
              <a:p>
                <a:pPr lvl="0" indent="0" marL="0">
                  <a:buNone/>
                </a:pPr>
                <a:r>
                  <a:rPr/>
                  <a:t>Bootstrap methods will be used to estimate:</a:t>
                </a:r>
              </a:p>
              <a:p>
                <a:pPr lvl="0"/>
                <a:r>
                  <a:rPr/>
                  <a:t>standard error of the mean TMB</a:t>
                </a:r>
              </a:p>
              <a:p>
                <a:pPr lvl="0"/>
                <a:r>
                  <a:rPr/>
                  <a:t>standard error of the median TMB</a:t>
                </a:r>
              </a:p>
              <a:p>
                <a:pPr lvl="0"/>
                <a:r>
                  <a:rPr/>
                  <a:t>stability of each estimator across resampled datasets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Visualize the TMB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Interpretation of the Distribution</a:t>
            </a:r>
          </a:p>
          <a:p>
            <a:pPr lvl="0"/>
            <a:r>
              <a:rPr/>
              <a:t>histogram shows the distribution of tumor mutation burden across sequenced tumors</a:t>
            </a:r>
          </a:p>
          <a:p>
            <a:pPr lvl="0"/>
            <a:r>
              <a:rPr/>
              <a:t>distribution is right-skewed positivelyskewed</a:t>
            </a:r>
          </a:p>
          <a:p>
            <a:pPr lvl="0"/>
            <a:r>
              <a:rPr/>
              <a:t>due to skewness the mean is likely larger than the median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Visualize the TMB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Interpretation of the Distribution</a:t>
            </a:r>
          </a:p>
          <a:p>
            <a:pPr lvl="0" indent="0" marL="0">
              <a:buNone/>
            </a:pPr>
            <a:r>
              <a:rPr/>
              <a:t>Note: mean may generate an overestimation of the typical tumor mutation burden in this sample because of extreme values</a:t>
            </a:r>
          </a:p>
          <a:p>
            <a:pPr lvl="0"/>
            <a:r>
              <a:rPr/>
              <a:t>most tumors contain relatively low-to-moderate TMB values</a:t>
            </a:r>
          </a:p>
          <a:p>
            <a:pPr lvl="0"/>
            <a:r>
              <a:rPr/>
              <a:t>smaller number of tumors contain substantially elevated mutation burden</a:t>
            </a:r>
          </a:p>
          <a:p>
            <a:pPr lvl="0"/>
            <a:r>
              <a:rPr/>
              <a:t>long right tail indicates genomic heterogeneity across tumors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Bootstrap Appraoch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bootstrap resampling</a:t>
            </a:r>
            <a:r>
              <a:rPr/>
              <a:t>: approximates repeated sampling using the observed data</a:t>
            </a:r>
          </a:p>
          <a:p>
            <a:pPr lvl="0" indent="0" marL="0">
              <a:buNone/>
            </a:pPr>
            <a:r>
              <a:rPr/>
              <a:t>Each bootstrap iteration executes the following:</a:t>
            </a:r>
          </a:p>
          <a:p>
            <a:pPr lvl="0" indent="0" marL="0">
              <a:buNone/>
            </a:pPr>
            <a:r>
              <a:rPr b="1"/>
              <a:t>1. resample TMB values</a:t>
            </a:r>
            <a:r>
              <a:rPr/>
              <a:t> with replacement</a:t>
            </a:r>
          </a:p>
          <a:p>
            <a:pPr lvl="0"/>
            <a:r>
              <a:rPr/>
              <a:t>after a value is selected, it is returned to the dataset and can be selected again</a:t>
            </a:r>
          </a:p>
          <a:p>
            <a:pPr lvl="0"/>
            <a:r>
              <a:rPr/>
              <a:t>allowing the bootstrap sample to:</a:t>
            </a:r>
          </a:p>
          <a:p>
            <a:pPr lvl="1"/>
            <a:r>
              <a:rPr/>
              <a:t>maintain same size as the original dataset</a:t>
            </a:r>
          </a:p>
          <a:p>
            <a:pPr lvl="1"/>
            <a:r>
              <a:rPr/>
              <a:t>note that each resample may include some participants more than once and may omit some participants</a:t>
            </a:r>
          </a:p>
          <a:p>
            <a:pPr lvl="0" indent="0" marL="0">
              <a:buNone/>
            </a:pPr>
            <a:r>
              <a:rPr b="1"/>
              <a:t>2. compute the estimator on that resampled dataset</a:t>
            </a:r>
          </a:p>
          <a:p>
            <a:pPr lvl="0" indent="0" marL="0">
              <a:buNone/>
            </a:pPr>
            <a:r>
              <a:rPr b="1"/>
              <a:t>3. store the result</a:t>
            </a:r>
          </a:p>
          <a:p>
            <a:pPr lvl="0" indent="0" marL="0">
              <a:buNone/>
            </a:pPr>
            <a:r>
              <a:rPr b="1"/>
              <a:t>4. repeat many times</a:t>
            </a:r>
          </a:p>
          <a:p>
            <a:pPr lvl="0" indent="0" marL="0">
              <a:buNone/>
            </a:pPr>
            <a:r>
              <a:rPr/>
              <a:t>After many iterations the collection of estimates approximates the sampling distribution of the estimator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the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tmb_values &lt;- tmb_df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tmb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(tmb_values)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2.70 11.49  5.47 10.97  4.79  2.61</a:t>
            </a:r>
          </a:p>
          <a:p>
            <a:pPr lvl="0" indent="0" marL="0">
              <a:buNone/>
            </a:pPr>
            <a:r>
              <a:rPr b="1"/>
              <a:t>Notes</a:t>
            </a:r>
          </a:p>
          <a:p>
            <a:pPr lvl="0"/>
            <a:r>
              <a:rPr>
                <a:latin typeface="Courier"/>
              </a:rPr>
              <a:t>tmb_df$tmb</a:t>
            </a:r>
            <a:r>
              <a:rPr/>
              <a:t> extracts the tumor mutation burden column</a:t>
            </a:r>
          </a:p>
          <a:p>
            <a:pPr lvl="0"/>
            <a:r>
              <a:rPr/>
              <a:t>bootstrap resampling operates on the observed TMB measurements</a:t>
            </a:r>
          </a:p>
          <a:p>
            <a:pPr lvl="0"/>
            <a:r>
              <a:rPr/>
              <a:t>vector contains one TMB value per tumor sample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Generate One Bootstrap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bootstrap_sample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tmb_values,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(tmb_values),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(bootstrap_sample)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7.07 10.67  6.62  2.05  1.89 11.13</a:t>
            </a:r>
          </a:p>
          <a:p>
            <a:pPr lvl="0" indent="0" marL="0">
              <a:buNone/>
            </a:pPr>
            <a:r>
              <a:rPr b="1"/>
              <a:t>Notes</a:t>
            </a:r>
          </a:p>
          <a:p>
            <a:pPr lvl="0"/>
            <a:r>
              <a:rPr>
                <a:latin typeface="Courier"/>
              </a:rPr>
              <a:t>sample()</a:t>
            </a:r>
            <a:r>
              <a:rPr/>
              <a:t> draws observations from the original TMB values</a:t>
            </a:r>
          </a:p>
          <a:p>
            <a:pPr lvl="0"/>
            <a:r>
              <a:rPr>
                <a:latin typeface="Courier"/>
              </a:rPr>
              <a:t>x = tmb_values</a:t>
            </a:r>
          </a:p>
          <a:p>
            <a:pPr lvl="1"/>
            <a:r>
              <a:rPr/>
              <a:t>variable that stores values being resampled</a:t>
            </a:r>
          </a:p>
          <a:p>
            <a:pPr lvl="0"/>
            <a:r>
              <a:rPr>
                <a:latin typeface="Courier"/>
              </a:rPr>
              <a:t>size = length(tmb_values)</a:t>
            </a:r>
          </a:p>
          <a:p>
            <a:pPr lvl="1"/>
            <a:r>
              <a:rPr/>
              <a:t>bootstrap sample has the same size as the original dataset</a:t>
            </a:r>
          </a:p>
          <a:p>
            <a:pPr lvl="0"/>
            <a:r>
              <a:rPr>
                <a:latin typeface="Courier"/>
              </a:rPr>
              <a:t>replace = TRUE</a:t>
            </a:r>
          </a:p>
          <a:p>
            <a:pPr lvl="1"/>
            <a:r>
              <a:rPr/>
              <a:t>observations can appear more than once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an Estimator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(bootstrap_sample)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7.538273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(bootstrap_sample)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7.005</a:t>
            </a:r>
          </a:p>
          <a:p>
            <a:pPr lvl="0"/>
            <a:r>
              <a:rPr/>
              <a:t>represents estimators [sample mean and median TMB] from a single bootstrap sample</a:t>
            </a:r>
          </a:p>
          <a:p>
            <a:pPr lvl="0" indent="0" marL="0">
              <a:buNone/>
            </a:pPr>
            <a:r>
              <a:rPr/>
              <a:t>After generating the resample:</a:t>
            </a:r>
          </a:p>
          <a:p>
            <a:pPr lvl="0"/>
            <a:r>
              <a:rPr/>
              <a:t>compute the estimator of interest</a:t>
            </a:r>
          </a:p>
          <a:p>
            <a:pPr lvl="0"/>
            <a:r>
              <a:rPr/>
              <a:t>store the result</a:t>
            </a:r>
          </a:p>
          <a:p>
            <a:pPr lvl="0"/>
            <a:r>
              <a:rPr/>
              <a:t>repeat many times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Bootstrap for the Mean TMB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222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boot_means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, {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x_star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tmb_df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tmb,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(tmb_df),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(x_star)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(boot_means)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7.447818 7.735682 7.742182 7.226182 7.382591 8.189727</a:t>
            </a:r>
          </a:p>
          <a:p>
            <a:pPr lvl="0" indent="0" marL="0">
              <a:buNone/>
            </a:pPr>
            <a:r>
              <a:rPr b="1"/>
              <a:t>Notes</a:t>
            </a:r>
          </a:p>
          <a:p>
            <a:pPr lvl="0"/>
            <a:r>
              <a:rPr>
                <a:latin typeface="Courier"/>
              </a:rPr>
              <a:t>replicate(2000, { ... })</a:t>
            </a:r>
            <a:r>
              <a:rPr/>
              <a:t> : repeats the bootstrap procedure 2000 times</a:t>
            </a:r>
          </a:p>
          <a:p>
            <a:pPr lvl="0" indent="0" marL="0">
              <a:buNone/>
            </a:pPr>
            <a:r>
              <a:rPr/>
              <a:t>Within each iteration:</a:t>
            </a:r>
          </a:p>
          <a:p>
            <a:pPr lvl="0"/>
            <a:r>
              <a:rPr/>
              <a:t>generate a bootstrap resample of TMB values</a:t>
            </a:r>
          </a:p>
          <a:p>
            <a:pPr lvl="0"/>
            <a:r>
              <a:rPr/>
              <a:t>compute the sample mean TMB</a:t>
            </a:r>
          </a:p>
          <a:p>
            <a:pPr lvl="0"/>
            <a:r>
              <a:rPr/>
              <a:t>return the computed value</a:t>
            </a:r>
          </a:p>
          <a:p>
            <a:pPr lvl="0" indent="0" marL="0">
              <a:buNone/>
            </a:pPr>
            <a:r>
              <a:rPr/>
              <a:t>Result:</a:t>
            </a:r>
          </a:p>
          <a:p>
            <a:pPr lvl="0"/>
            <a:r>
              <a:rPr>
                <a:latin typeface="Courier"/>
              </a:rPr>
              <a:t>boot_means</a:t>
            </a:r>
            <a:r>
              <a:rPr/>
              <a:t> contains 2000 bootstrap estimates</a:t>
            </a:r>
          </a:p>
          <a:p>
            <a:pPr lvl="0"/>
            <a:r>
              <a:rPr/>
              <a:t>collection approximates the sampling distribution of the mean TMB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Estimates into a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Interpretation</a:t>
            </a:r>
          </a:p>
          <a:p>
            <a:pPr lvl="0"/>
            <a:r>
              <a:rPr/>
              <a:t>each bar represents bootstrap-estimated mean TMB values</a:t>
            </a:r>
          </a:p>
          <a:p>
            <a:pPr lvl="0"/>
            <a:r>
              <a:rPr/>
              <a:t>histogram approximates the sampling distribution of the mean</a:t>
            </a:r>
          </a:p>
          <a:p>
            <a:pPr lvl="0"/>
            <a:r>
              <a:rPr/>
              <a:t>spread reflects sampling variability</a:t>
            </a:r>
          </a:p>
          <a:p>
            <a:pPr lvl="0" indent="0" marL="0">
              <a:buNone/>
            </a:pPr>
            <a:r>
              <a:rPr/>
              <a:t>Narrow distribution:</a:t>
            </a:r>
          </a:p>
          <a:p>
            <a:pPr lvl="0"/>
            <a:r>
              <a:rPr/>
              <a:t>mean TMB is relatively stable across resamples</a:t>
            </a:r>
          </a:p>
          <a:p>
            <a:pPr lvl="0" indent="0" marL="0">
              <a:buNone/>
            </a:pPr>
            <a:r>
              <a:rPr/>
              <a:t>Wide distribution:</a:t>
            </a:r>
          </a:p>
          <a:p>
            <a:pPr lvl="0"/>
            <a:r>
              <a:rPr/>
              <a:t>mean TMB varies more across resampled datasets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Bootstrap for the Median TMB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333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boot_medians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, {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x_star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tmb_df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tmb,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(tmb_df),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(x_star)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(boot_medians)</a:t>
            </a:r>
          </a:p>
          <a:p>
            <a:pPr lvl="0" indent="0">
              <a:buNone/>
            </a:pPr>
            <a:r>
              <a:rPr>
                <a:latin typeface="Courier"/>
              </a:rPr>
              <a:t>[1] 6.515 6.985 7.150 5.970 7.070 6.730</a:t>
            </a:r>
          </a:p>
          <a:p>
            <a:pPr lvl="0" indent="0" marL="0">
              <a:buNone/>
            </a:pPr>
            <a:r>
              <a:rPr b="1"/>
              <a:t>Notes</a:t>
            </a:r>
          </a:p>
          <a:p>
            <a:pPr lvl="0"/>
            <a:r>
              <a:rPr/>
              <a:t>code repeats the same bootstrap procedure for median</a:t>
            </a:r>
          </a:p>
          <a:p>
            <a:pPr lvl="0"/>
            <a:r>
              <a:rPr/>
              <a:t>boot_medians contains 2000 bootstrap median TMB estimates</a:t>
            </a:r>
          </a:p>
          <a:p>
            <a:pPr lvl="0"/>
            <a:r>
              <a:rPr/>
              <a:t>distribution approximates the sampling distribution of the median TMB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Estimates into a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Interpretation</a:t>
            </a:r>
          </a:p>
          <a:p>
            <a:pPr lvl="0"/>
            <a:r>
              <a:rPr/>
              <a:t>each bar represents bootstrap-estimated median TMB values</a:t>
            </a:r>
          </a:p>
          <a:p>
            <a:pPr lvl="0"/>
            <a:r>
              <a:rPr/>
              <a:t>histogram approximates the sampling distribution of the median</a:t>
            </a:r>
          </a:p>
          <a:p>
            <a:pPr lvl="0"/>
            <a:r>
              <a:rPr/>
              <a:t>spread reflects how much the median changes across resamples</a:t>
            </a:r>
          </a:p>
          <a:p>
            <a:pPr lvl="0"/>
            <a:r>
              <a:rPr/>
              <a:t>median is less affected by extreme high TMB values</a:t>
            </a:r>
          </a:p>
          <a:p>
            <a:pPr lvl="0"/>
            <a:r>
              <a:rPr/>
              <a:t>bootstrap helps quantify uncertainty for this robust estimator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Bootstrap 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boot_mean_se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(boot_means)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boot_median_se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(boot_medians)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tibble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estimator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 TMB"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"Median TMB"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bootstrap_se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(boot_mean_se, boot_median_se)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2 × 2
  estimator  bootstrap_se
  &lt;chr&gt;             &lt;dbl&gt;
1 Mean TMB          0.310
2 Median TMB        0.369</a:t>
                </a:r>
              </a:p>
              <a:p>
                <a:pPr lvl="0"/>
                <a:r>
                  <a:rPr/>
                  <a:t>bootstrap standard error is computed directly from the bootstrap estimates</a:t>
                </a:r>
              </a:p>
              <a:p>
                <a:pPr lvl="0"/>
                <a:r>
                  <a:rPr/>
                  <a:t>measures how much the estimator varies across repeated resamples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b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B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Sup>
                                        <m:e>
                                          <m:r>
                                            <m:t>θ</m:t>
                                          </m:r>
                                        </m:e>
                                        <m:sub>
                                          <m:r>
                                            <m:t>b</m:t>
                                          </m:r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m:t>*</m:t>
                                          </m:r>
                                        </m:sup>
                                      </m:sSubSup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p>
                                        <m:e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θ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m:t>*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: number of bootstrap resamples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θ</m:t>
                            </m:r>
                          </m:e>
                        </m:acc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: estimator from bootstrap sample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θ</m:t>
                            </m:r>
                          </m:e>
                        </m:acc>
                      </m:e>
                    </m:acc>
                  </m:oMath>
                </a14:m>
                <a:r>
                  <a:rPr/>
                  <a:t> : average bootstrap estimate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Bootstrap Confidence Interval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mean_ci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boot_means,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median_ci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boot_medians,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estimator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TMB"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"Median TMB"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lower_95_ci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(mean_ci[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median_ci[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upper_95_ci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(mean_ci[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median_ci[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estimator  lower_95_ci upper_95_ci
  &lt;chr&gt;            &lt;dbl&gt;       &lt;dbl&gt;
1 Mean TMB          7.04        8.25
2 Median TMB        5.93        7.43</a:t>
            </a:r>
          </a:p>
          <a:p>
            <a:pPr lvl="0" indent="0" marL="0">
              <a:buNone/>
            </a:pPr>
            <a:r>
              <a:rPr b="1"/>
              <a:t>Interpretation</a:t>
            </a:r>
          </a:p>
          <a:p>
            <a:pPr lvl="0"/>
            <a:r>
              <a:rPr/>
              <a:t>confidence intervals contain the middle 95% of estimates generated from repeated bootstrap resampling</a:t>
            </a:r>
          </a:p>
          <a:p>
            <a:pPr lvl="0" indent="0" marL="0">
              <a:buNone/>
            </a:pPr>
            <a:r>
              <a:rPr/>
              <a:t>For a 95% bootstrap confidence interval:</a:t>
            </a:r>
          </a:p>
          <a:p>
            <a:pPr lvl="0"/>
            <a:r>
              <a:rPr/>
              <a:t>lower bound is the 2.5th percentile of the bootstrap estimates</a:t>
            </a:r>
          </a:p>
          <a:p>
            <a:pPr lvl="0"/>
            <a:r>
              <a:rPr/>
              <a:t>upper bound is the 97.5th percentile of the bootstrap estimates</a:t>
            </a:r>
          </a:p>
          <a:p>
            <a:pPr lvl="0"/>
            <a:r>
              <a:rPr/>
              <a:t>each bootstrap estimate represents one possible estimate of population TMB obtained from a resampled version of the observed sequencing dataset</a:t>
            </a:r>
          </a:p>
          <a:p>
            <a:pPr lvl="0"/>
            <a:r>
              <a:rPr/>
              <a:t>some bootstrap estimates are smaller and some are larger because sampling variability causes estimates to fluctuate across samples</a:t>
            </a:r>
          </a:p>
          <a:p>
            <a:pPr lvl="0"/>
            <a:r>
              <a:rPr/>
              <a:t>confidence interval summarizes the range of population TMB values that remain plausible given the observed data and the observed variability across resamples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estimates summarize characteristics of a population using observed sample data</a:t>
            </a:r>
          </a:p>
          <a:p>
            <a:pPr lvl="0"/>
            <a:r>
              <a:rPr/>
              <a:t>different samples produce different estimates because of sampling variability</a:t>
            </a:r>
          </a:p>
          <a:p>
            <a:pPr lvl="0"/>
            <a:r>
              <a:rPr/>
              <a:t>bootstrap resampling approximates repeated sampling directly from the observed dataset</a:t>
            </a:r>
          </a:p>
          <a:p>
            <a:pPr lvl="0"/>
            <a:r>
              <a:rPr/>
              <a:t>bootstrap methods repeatedly:</a:t>
            </a:r>
          </a:p>
          <a:p>
            <a:pPr lvl="1"/>
            <a:r>
              <a:rPr/>
              <a:t>resample the data with replacement</a:t>
            </a:r>
          </a:p>
          <a:p>
            <a:pPr lvl="1"/>
            <a:r>
              <a:rPr/>
              <a:t>recompute the estimator</a:t>
            </a:r>
          </a:p>
          <a:p>
            <a:pPr lvl="1"/>
            <a:r>
              <a:rPr/>
              <a:t>form an empirical sampling distribution</a:t>
            </a:r>
          </a:p>
          <a:p>
            <a:pPr lvl="0" indent="0" marL="0">
              <a:buNone/>
            </a:pPr>
            <a:r>
              <a:rPr/>
              <a:t>bootstrap distributions can be used to estimate:</a:t>
            </a:r>
          </a:p>
          <a:p>
            <a:pPr lvl="0"/>
            <a:r>
              <a:rPr/>
              <a:t>standard errors</a:t>
            </a:r>
          </a:p>
          <a:p>
            <a:pPr lvl="0"/>
            <a:r>
              <a:rPr/>
              <a:t>confidence intervals</a:t>
            </a:r>
          </a:p>
          <a:p>
            <a:pPr lvl="0"/>
            <a:r>
              <a:rPr/>
              <a:t>estimator stability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estimates summarize characteristics of a population using observed sample datbootstrap confidence intervals summarize the range of population values that remain plausible given the observed data and the variability observed across bootstrap resamples</a:t>
            </a:r>
          </a:p>
          <a:p>
            <a:pPr lvl="0"/>
            <a:r>
              <a:rPr/>
              <a:t>bootstrap methods are especially useful when:</a:t>
            </a:r>
          </a:p>
          <a:p>
            <a:pPr lvl="1"/>
            <a:r>
              <a:rPr/>
              <a:t>distributions are skewed</a:t>
            </a:r>
          </a:p>
          <a:p>
            <a:pPr lvl="1"/>
            <a:r>
              <a:rPr/>
              <a:t>assumptions underlying closed-form methods may be fragile</a:t>
            </a:r>
          </a:p>
          <a:p>
            <a:pPr lvl="1"/>
            <a:r>
              <a:rPr/>
              <a:t>estimators do not have simple analytic standard error formulas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Bootstrap Estimation for Mean and Median Biomarker Values</dc:title>
  <dc:creator> Lesley Chapman Hannah, Ph.D., M.S. College of Graduate Studies Northeast Ohio Medical University</dc:creator>
  <cp:keywords/>
  <dcterms:created xsi:type="dcterms:W3CDTF">2026-05-13T15:06:55Z</dcterms:created>
  <dcterms:modified xsi:type="dcterms:W3CDTF">2026-05-13T15:06:55Z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