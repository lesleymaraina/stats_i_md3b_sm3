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2" Type="http://schemas.openxmlformats.org/officeDocument/2006/relationships/viewProps" Target="viewProps.xml" /><Relationship Id="rId3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4" Type="http://schemas.openxmlformats.org/officeDocument/2006/relationships/tableStyles" Target="tableStyles.xml" /><Relationship Id="rId3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Likelihood-Based Estimation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Lesley Chapman Hannah, Ph.D., M.S.College of Graduate StudiesNortheast Ohio Medical University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Lecture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define likelihood as a general estimation principle</a:t>
            </a:r>
          </a:p>
          <a:p>
            <a:pPr lvl="0"/>
            <a:r>
              <a:rPr/>
              <a:t>sample summaries estimate population quantities using only observed group-level data [i.e.: sample means, proportions]</a:t>
            </a:r>
          </a:p>
          <a:p>
            <a:pPr lvl="0"/>
            <a:r>
              <a:rPr/>
              <a:t>discuss how model-based estimation use statistical models to estimate relationships between variables [i.e.: regression]</a:t>
            </a:r>
          </a:p>
          <a:p>
            <a:pPr lvl="0"/>
            <a:r>
              <a:rPr/>
              <a:t>high level interpretation of linear and logistic regression output at an introductory level</a:t>
            </a:r>
          </a:p>
          <a:p>
            <a:pPr lvl="0"/>
            <a:r>
              <a:rPr/>
              <a:t>connect coefficients to clinically meaningful effect measures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Transition to Model-Based Estimation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Previous lectures focused on estimators that describe what is observed in the sample:</a:t>
            </a:r>
          </a:p>
          <a:p>
            <a:pPr lvl="0"/>
            <a:r>
              <a:rPr/>
              <a:t>sample means → estimate population means</a:t>
            </a:r>
          </a:p>
          <a:p>
            <a:pPr lvl="0"/>
            <a:r>
              <a:rPr/>
              <a:t>group differences → estimate contrasts between populations</a:t>
            </a:r>
          </a:p>
          <a:p>
            <a:pPr lvl="0" indent="0" marL="0">
              <a:buNone/>
            </a:pPr>
            <a:r>
              <a:rPr/>
              <a:t>Statistical summaries are limited when addressing questions such as:</a:t>
            </a:r>
          </a:p>
          <a:p>
            <a:pPr lvl="0"/>
            <a:r>
              <a:rPr/>
              <a:t>how outcomes change across multiple predictors</a:t>
            </a:r>
          </a:p>
          <a:p>
            <a:pPr lvl="0"/>
            <a:r>
              <a:rPr/>
              <a:t>how to handle outcomes with different structures [continuous, binary, counts]</a:t>
            </a:r>
          </a:p>
          <a:p>
            <a:pPr lvl="0" indent="0" marL="0">
              <a:buNone/>
            </a:pPr>
            <a:r>
              <a:rPr/>
              <a:t>Statistical models provide a framework to express how an outcome depends on predictors through unknown parameters that must be estimated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Transition to Model-Based Estimation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Goal</a:t>
            </a:r>
            <a:r>
              <a:rPr/>
              <a:t>: estimate unknown population quantities using observed data</a:t>
            </a:r>
          </a:p>
          <a:p>
            <a:pPr lvl="0" indent="0" marL="0">
              <a:buNone/>
            </a:pPr>
            <a:r>
              <a:rPr b="1"/>
              <a:t>Direct estimators</a:t>
            </a:r>
          </a:p>
          <a:p>
            <a:pPr lvl="0"/>
            <a:r>
              <a:rPr/>
              <a:t>computed from observed data</a:t>
            </a:r>
          </a:p>
          <a:p>
            <a:pPr lvl="0"/>
            <a:r>
              <a:rPr/>
              <a:t>summarize outcomes within groups</a:t>
            </a:r>
          </a:p>
          <a:p>
            <a:pPr lvl="0"/>
            <a:r>
              <a:rPr/>
              <a:t>do not account for additional variables</a:t>
            </a:r>
          </a:p>
          <a:p>
            <a:pPr lvl="0" indent="0" marL="0">
              <a:buNone/>
            </a:pPr>
            <a:r>
              <a:rPr b="1"/>
              <a:t>Model-based estimators</a:t>
            </a:r>
          </a:p>
          <a:p>
            <a:pPr lvl="0"/>
            <a:r>
              <a:rPr/>
              <a:t>specify a relationship between outcome and predictors</a:t>
            </a:r>
          </a:p>
          <a:p>
            <a:pPr lvl="0"/>
            <a:r>
              <a:rPr/>
              <a:t>estimate unknown parameters that define that relationship</a:t>
            </a:r>
          </a:p>
          <a:p>
            <a:pPr lvl="0"/>
            <a:r>
              <a:rPr/>
              <a:t>allow adjustment for multiple variables and more complex structures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Model Based Estimation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Model-based estimation:</a:t>
            </a:r>
          </a:p>
          <a:p>
            <a:pPr lvl="0" indent="0" marL="0">
              <a:buNone/>
            </a:pPr>
            <a:r>
              <a:rPr/>
              <a:t>approach to estimation that uses a statistical model to describe how the outcome is generated and to estimate unknown parameters</a:t>
            </a:r>
          </a:p>
          <a:p>
            <a:pPr lvl="0" indent="0" marL="0">
              <a:buNone/>
            </a:pPr>
            <a:r>
              <a:rPr/>
              <a:t>Key components:</a:t>
            </a:r>
          </a:p>
          <a:p>
            <a:pPr lvl="0"/>
            <a:r>
              <a:rPr b="1"/>
              <a:t>outcome [Y]</a:t>
            </a:r>
            <a:r>
              <a:rPr/>
              <a:t>: variable being studied</a:t>
            </a:r>
          </a:p>
          <a:p>
            <a:pPr lvl="0"/>
            <a:r>
              <a:rPr b="1"/>
              <a:t>predictors [X]</a:t>
            </a:r>
            <a:r>
              <a:rPr/>
              <a:t>: variables used to explain variation in the outcome</a:t>
            </a:r>
          </a:p>
          <a:p>
            <a:pPr lvl="0"/>
            <a:r>
              <a:rPr b="1"/>
              <a:t>parameters [β]</a:t>
            </a:r>
            <a:r>
              <a:rPr/>
              <a:t>: unknown quantities describing the relationship between X and Y</a:t>
            </a:r>
          </a:p>
          <a:p>
            <a:pPr lvl="0"/>
            <a:r>
              <a:rPr b="1"/>
              <a:t>model</a:t>
            </a:r>
            <a:r>
              <a:rPr/>
              <a:t>: mathematical expression linking Y to X through β</a:t>
            </a:r>
          </a:p>
          <a:p>
            <a:pPr lvl="0" indent="0" marL="0">
              <a:buNone/>
            </a:pPr>
            <a:r>
              <a:rPr/>
              <a:t>Estimation here means: use observed data to estimate the unknown parameters that define how the outcome depends on the predictors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Likelihood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likelihood</a:t>
            </a:r>
            <a:r>
              <a:rPr/>
              <a:t> : function of the unknown parameters [i.e.: probability of an event] that describes the probability of the observed data under a specified statistical model</a:t>
            </a:r>
          </a:p>
          <a:p>
            <a:pPr lvl="0"/>
            <a:r>
              <a:rPr/>
              <a:t>function that expresses how plausible different values of the model parameters are given the observed data</a:t>
            </a:r>
          </a:p>
          <a:p>
            <a:pPr lvl="0"/>
            <a:r>
              <a:rPr/>
              <a:t>in estimation the goal is to learn about unknown population parameters using observed data</a:t>
            </a:r>
          </a:p>
          <a:p>
            <a:pPr lvl="1"/>
            <a:r>
              <a:rPr/>
              <a:t>data Y and predictors X are fixed once observed</a:t>
            </a:r>
          </a:p>
          <a:p>
            <a:pPr lvl="1"/>
            <a:r>
              <a:rPr/>
              <a:t>parameters β are unknown and must be </a:t>
            </a:r>
            <a:r>
              <a:rPr b="1"/>
              <a:t>estimated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Likelihood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Likelihood can be expressed as follows: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L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β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Y</m:t>
                          </m:r>
                          <m:r>
                            <m:rPr>
                              <m:sty m:val="p"/>
                            </m:rPr>
                            <m:t>∣</m:t>
                          </m:r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β</m:t>
                          </m:r>
                        </m:e>
                      </m:d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formula states that the likelihood evaluates how plausible the observed outcomes are under a model with parameters </a:t>
                </a:r>
                <a14:m>
                  <m:oMath xmlns:m="http://schemas.openxmlformats.org/officeDocument/2006/math">
                    <m:r>
                      <m:t>β</m:t>
                    </m:r>
                  </m:oMath>
                </a14:m>
                <a:r>
                  <a:rPr/>
                  <a:t> given the observed data</a:t>
                </a:r>
              </a:p>
              <a:p>
                <a:pPr lvl="0"/>
                <a14:m>
                  <m:oMath xmlns:m="http://schemas.openxmlformats.org/officeDocument/2006/math">
                    <m:r>
                      <m:t>L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β</m:t>
                        </m:r>
                      </m:e>
                    </m:d>
                  </m:oMath>
                </a14:m>
                <a:r>
                  <a:rPr/>
                  <a:t> : likelihood, viewed as a function of the unknown parameters</a:t>
                </a:r>
              </a:p>
              <a:p>
                <a:pPr lvl="0"/>
                <a14:m>
                  <m:oMath xmlns:m="http://schemas.openxmlformats.org/officeDocument/2006/math">
                    <m:r>
                      <m:t>Y</m:t>
                    </m:r>
                  </m:oMath>
                </a14:m>
                <a:r>
                  <a:rPr/>
                  <a:t> : set of observed outcomes</a:t>
                </a:r>
              </a:p>
              <a:p>
                <a:pPr lvl="0"/>
                <a14:m>
                  <m:oMath xmlns:m="http://schemas.openxmlformats.org/officeDocument/2006/math">
                    <m:r>
                      <m:t>X</m:t>
                    </m:r>
                  </m:oMath>
                </a14:m>
                <a:r>
                  <a:rPr/>
                  <a:t> : set of observed predictors or covariates</a:t>
                </a:r>
              </a:p>
              <a:p>
                <a:pPr lvl="0"/>
                <a14:m>
                  <m:oMath xmlns:m="http://schemas.openxmlformats.org/officeDocument/2006/math">
                    <m:r>
                      <m:t>β</m:t>
                    </m:r>
                  </m:oMath>
                </a14:m>
                <a:r>
                  <a:rPr/>
                  <a:t> : collection of unknown model parameters</a:t>
                </a:r>
              </a:p>
              <a:p>
                <a:pPr lvl="0" indent="0" marL="0">
                  <a:buNone/>
                </a:pPr>
                <a:r>
                  <a:rPr/>
                  <a:t>Likelihood estimate quality:</a:t>
                </a:r>
              </a:p>
              <a:p>
                <a:pPr lvl="0"/>
                <a:r>
                  <a:rPr>
                    <a:latin typeface="Courier"/>
                  </a:rPr>
                  <a:t>good estimate</a:t>
                </a:r>
                <a:r>
                  <a:rPr/>
                  <a:t> : observed data likely under the assumed model</a:t>
                </a:r>
              </a:p>
              <a:p>
                <a:pPr lvl="0"/>
                <a:r>
                  <a:rPr>
                    <a:latin typeface="Courier"/>
                  </a:rPr>
                  <a:t>poor estimate</a:t>
                </a:r>
                <a:r>
                  <a:rPr/>
                  <a:t> : parameter values under which the observed data would be unlikely</a:t>
                </a:r>
              </a:p>
            </p:txBody>
          </p:sp>
        </mc:Choice>
      </mc:AlternateContent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Maximum Likelihood Estimation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maximum likelihood estimation (MLE)</a:t>
                </a:r>
                <a:r>
                  <a:rPr/>
                  <a:t> : method for estimating unknown model parameters by selecting the values that maximize the likelihood function</a:t>
                </a:r>
              </a:p>
              <a:p>
                <a:pPr lvl="0"/>
                <a:r>
                  <a:rPr/>
                  <a:t>chooses the parameter values under which the observed data are most plausible</a:t>
                </a:r>
              </a:p>
              <a:p>
                <a:pPr lvl="0" indent="0" marL="0">
                  <a:buNone/>
                </a:pPr>
                <a:r>
                  <a:rPr/>
                  <a:t>MLE Formula: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̂"/>
                        </m:accPr>
                        <m:e>
                          <m:r>
                            <m:t>β</m:t>
                          </m:r>
                        </m:e>
                      </m:acc>
                      <m:r>
                        <m:rPr>
                          <m:sty m:val="p"/>
                        </m:rPr>
                        <m:t>=</m:t>
                      </m:r>
                      <m:r>
                        <m:t>a</m:t>
                      </m:r>
                      <m:r>
                        <m:t>r</m:t>
                      </m:r>
                      <m:r>
                        <m:t>g</m:t>
                      </m:r>
                      <m:r>
                        <m:t>m</m:t>
                      </m:r>
                      <m:r>
                        <m:t>a</m:t>
                      </m:r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β</m:t>
                          </m:r>
                        </m:sub>
                      </m:sSub>
                      <m:r>
                        <m:t>L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β</m:t>
                          </m:r>
                        </m:e>
                      </m:d>
                    </m:oMath>
                  </m:oMathPara>
                </a14:m>
              </a:p>
              <a:p>
                <a:pPr lvl="0"/>
                <a14:m>
                  <m:oMath xmlns:m="http://schemas.openxmlformats.org/officeDocument/2006/math">
                    <m:acc>
                      <m:accPr>
                        <m:chr m:val="̂"/>
                      </m:accPr>
                      <m:e>
                        <m:r>
                          <m:t>β</m:t>
                        </m:r>
                      </m:e>
                    </m:acc>
                  </m:oMath>
                </a14:m>
                <a:r>
                  <a:rPr/>
                  <a:t> : estimated parameter values</a:t>
                </a:r>
                <a:br/>
              </a:p>
              <a:p>
                <a:pPr lvl="0"/>
                <a14:m>
                  <m:oMath xmlns:m="http://schemas.openxmlformats.org/officeDocument/2006/math">
                    <m:r>
                      <m:t>L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β</m:t>
                        </m:r>
                      </m:e>
                    </m:d>
                  </m:oMath>
                </a14:m>
                <a:r>
                  <a:rPr/>
                  <a:t> : likelihood function</a:t>
                </a:r>
                <a:br/>
              </a:p>
              <a:p>
                <a:pPr lvl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arg</m:t>
                    </m:r>
                    <m:r>
                      <m:rPr>
                        <m:sty m:val="p"/>
                      </m:rPr>
                      <m:t>max</m:t>
                    </m:r>
                  </m:oMath>
                </a14:m>
                <a:r>
                  <a:rPr/>
                  <a:t> : values of </a:t>
                </a:r>
                <a14:m>
                  <m:oMath xmlns:m="http://schemas.openxmlformats.org/officeDocument/2006/math">
                    <m:r>
                      <m:t>β</m:t>
                    </m:r>
                  </m:oMath>
                </a14:m>
                <a:r>
                  <a:rPr/>
                  <a:t> that maximize the likelihood</a:t>
                </a:r>
              </a:p>
            </p:txBody>
          </p:sp>
        </mc:Choice>
      </mc:AlternateContent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Maximum Likelihood Estimation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MLE involves</a:t>
                </a:r>
                <a:r>
                  <a:rPr/>
                  <a:t>:</a:t>
                </a:r>
              </a:p>
              <a:p>
                <a:pPr lvl="0"/>
                <a:r>
                  <a:rPr/>
                  <a:t>evaluating many possible parameter values</a:t>
                </a:r>
              </a:p>
              <a:p>
                <a:pPr lvl="0"/>
                <a:r>
                  <a:rPr/>
                  <a:t>selecting the value that best aligns the model with the observed data</a:t>
                </a:r>
              </a:p>
              <a:p>
                <a:pPr lvl="0"/>
                <a:r>
                  <a:rPr/>
                  <a:t>resulting estimate is the one under which the observed dataset is most consistent with the model</a:t>
                </a:r>
              </a:p>
              <a:p>
                <a:pPr lvl="0" indent="0" marL="0">
                  <a:buNone/>
                </a:pPr>
                <a:r>
                  <a:rPr b="1"/>
                  <a:t>Linking Estimation, Likelihood, and MLE</a:t>
                </a:r>
              </a:p>
              <a:p>
                <a:pPr lvl="0"/>
                <a:r>
                  <a:rPr>
                    <a:latin typeface="Courier"/>
                  </a:rPr>
                  <a:t>estimation</a:t>
                </a:r>
                <a:r>
                  <a:rPr/>
                  <a:t> : learn about unknown population parameters using observed data</a:t>
                </a:r>
              </a:p>
              <a:p>
                <a:pPr lvl="0"/>
                <a:r>
                  <a:rPr>
                    <a:latin typeface="Courier"/>
                  </a:rPr>
                  <a:t>likelihood</a:t>
                </a:r>
                <a:r>
                  <a:rPr/>
                  <a:t> : approach for evaluating how well different parameter values explain the observed data</a:t>
                </a:r>
              </a:p>
              <a:p>
                <a:pPr lvl="0"/>
                <a:r>
                  <a:rPr>
                    <a:latin typeface="Courier"/>
                  </a:rPr>
                  <a:t>MLE</a:t>
                </a:r>
                <a:r>
                  <a:rPr/>
                  <a:t> : method that selects the parameter values that maximize the likelihood function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yields the estimate most consistent with the observed data</a:t>
                </a:r>
              </a:p>
              <a:p>
                <a:pPr lvl="0" indent="0" marL="0">
                  <a:buNone/>
                </a:pPr>
                <a:r>
                  <a:rPr/>
                  <a:t>MLE provides a general framework for estimation across models such as:</a:t>
                </a:r>
              </a:p>
              <a:p>
                <a:pPr lvl="0"/>
                <a:r>
                  <a:rPr/>
                  <a:t>linear regression</a:t>
                </a:r>
              </a:p>
              <a:p>
                <a:pPr lvl="0"/>
                <a:r>
                  <a:rPr/>
                  <a:t>logistic regression</a:t>
                </a:r>
              </a:p>
            </p:txBody>
          </p:sp>
        </mc:Choice>
      </mc:AlternateContent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Linear Regression as Model-Based Estimation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linear regression model</a:t>
                </a:r>
                <a:r>
                  <a:rPr/>
                  <a:t>: statistical model that represents the expected value of a continuous outcome as a linear function of predictor variables with unknown parameters estimated from observed data</a:t>
                </a:r>
              </a:p>
              <a:p>
                <a:pPr lvl="0"/>
                <a:r>
                  <a:rPr/>
                  <a:t>linear regression - parameters β define the relationship between predictors (X) and outcome (Y)</a:t>
                </a:r>
              </a:p>
              <a:p>
                <a:pPr lvl="0"/>
                <a:r>
                  <a:rPr/>
                  <a:t>parameters are estimated from the data using maximum likelihood</a:t>
                </a:r>
              </a:p>
              <a:p>
                <a:pPr lvl="0" indent="0" marL="0">
                  <a:buNone/>
                </a:pPr>
                <a:r>
                  <a:rPr/>
                  <a:t>Model specification [simple linear regression]</a:t>
                </a:r>
              </a:p>
              <a:p>
                <a:pPr lvl="0"/>
                <a:r>
                  <a:rPr/>
                  <a:t>conditional mean of the outcome is a linear function of the predictor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E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Y</m:t>
                          </m:r>
                          <m:r>
                            <m:rPr>
                              <m:sty m:val="p"/>
                            </m:rPr>
                            <m:t>∣</m:t>
                          </m:r>
                          <m: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r>
                        <m:t>X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Where:</a:t>
                </a:r>
              </a:p>
              <a:p>
                <a:pPr lvl="0"/>
                <a14:m>
                  <m:oMath xmlns:m="http://schemas.openxmlformats.org/officeDocument/2006/math">
                    <m:r>
                      <m:t>E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Y</m:t>
                        </m:r>
                        <m:r>
                          <m:rPr>
                            <m:sty m:val="p"/>
                          </m:rPr>
                          <m:t>∣</m:t>
                        </m:r>
                        <m:r>
                          <m:t>X</m:t>
                        </m:r>
                      </m:e>
                    </m:d>
                  </m:oMath>
                </a14:m>
                <a:r>
                  <a:rPr/>
                  <a:t> : xpected value of the outcome given the predictors </a:t>
                </a:r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β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  <a:r>
                  <a:rPr/>
                  <a:t> : intercept → expected outcome when the predictor equals zero or when all predictors are at their reference values </a:t>
                </a:r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r>
                      <m:t>0</m:t>
                    </m:r>
                  </m:oMath>
                </a14:m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β</m:t>
                        </m:r>
                      </m:e>
                      <m:sub>
                        <m:r>
                          <m:t>1</m:t>
                        </m:r>
                      </m:sub>
                    </m:sSub>
                  </m:oMath>
                </a14:m>
                <a:r>
                  <a:rPr/>
                  <a:t> : slope → expected change in the outcome for a one-unit change in the predictor </a:t>
                </a:r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a:p>
              <a:p>
                <a:pPr lvl="0"/>
                <a14:m>
                  <m:oMath xmlns:m="http://schemas.openxmlformats.org/officeDocument/2006/math">
                    <m:r>
                      <m:t>X</m:t>
                    </m:r>
                  </m:oMath>
                </a14:m>
                <a:r>
                  <a:rPr/>
                  <a:t> : predictor</a:t>
                </a:r>
              </a:p>
            </p:txBody>
          </p:sp>
        </mc:Choice>
      </mc:AlternateContent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Linear Regression as Model-Based Estimation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linear model defines a probability distribution for the observed data</a:t>
                </a:r>
              </a:p>
              <a:p>
                <a:pPr lvl="0"/>
                <a:r>
                  <a:rPr/>
                  <a:t>likelihood evaluates how plausible different parameter values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β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sSup>
                          <m:e>
                            <m:r>
                              <m:t>σ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d>
                  </m:oMath>
                </a14:m>
              </a:p>
              <a:p>
                <a:pPr lvl="0"/>
                <a:r>
                  <a:rPr/>
                  <a:t>unknown parameters include: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t>β</m:t>
                        </m:r>
                      </m:e>
                      <m:sub>
                        <m: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  <m:sSub>
                      <m:e>
                        <m:r>
                          <m:t>β</m:t>
                        </m:r>
                      </m:e>
                      <m:sub>
                        <m:r>
                          <m:t>1</m:t>
                        </m:r>
                      </m:sub>
                    </m:sSub>
                  </m:oMath>
                </a14:m>
                <a:r>
                  <a:rPr/>
                  <a:t> : describes how the expected outcome depends on </a:t>
                </a:r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a:p>
              <a:p>
                <a:pPr lvl="1"/>
                <a14:m>
                  <m:oMath xmlns:m="http://schemas.openxmlformats.org/officeDocument/2006/math">
                    <m:sSup>
                      <m:e>
                        <m:r>
                          <m:t>σ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  <a:r>
                  <a:rPr/>
                  <a:t> : describes how much outcomes vary around the mean</a:t>
                </a:r>
              </a:p>
              <a:p>
                <a:pPr lvl="0"/>
                <a:r>
                  <a:rPr/>
                  <a:t>likelihood function:</a:t>
                </a:r>
              </a:p>
              <a:p>
                <a:pPr lvl="1"/>
                <a:r>
                  <a:rPr/>
                  <a:t>evaluates how plausible the observed data are for different values of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β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sSup>
                          <m:e>
                            <m:r>
                              <m:t>σ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d>
                  </m:oMath>
                </a14:m>
              </a:p>
              <a:p>
                <a:pPr lvl="1"/>
                <a:r>
                  <a:rPr/>
                  <a:t>data is fixed and varies the parameter values</a:t>
                </a:r>
              </a:p>
            </p:txBody>
          </p:sp>
        </mc:Choice>
      </mc:AlternateContent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Linear Regression: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Background</a:t>
            </a:r>
            <a:r>
              <a:rPr/>
              <a:t>: In many clinical and translational studies, immune system activity is measured using circulating biomarkers. One commonly studied marker is interferon-gamma (IFN-γ), a cytokine that plays a central role in immune activation, inflammation, and host defense against infections. IFN-γ is often used to evaluate whether a therapeutic intervention can modify an immune response.</a:t>
            </a:r>
          </a:p>
          <a:p>
            <a:pPr lvl="0" indent="0" marL="0">
              <a:buNone/>
            </a:pPr>
            <a:r>
              <a:rPr b="1"/>
              <a:t>Aim</a:t>
            </a:r>
            <a:r>
              <a:rPr/>
              <a:t>: Consider a study designed to evaluate a new therapy compared to a placebo control, where the goal is to understand both biological response and clinical outcomes. The scientific motivation is grounded in questions such as:</a:t>
            </a:r>
          </a:p>
          <a:p>
            <a:pPr lvl="0"/>
            <a:r>
              <a:rPr/>
              <a:t>How does IFN-γ differ across treatment groups?</a:t>
            </a:r>
          </a:p>
          <a:p>
            <a:pPr lvl="0"/>
            <a:r>
              <a:rPr/>
              <a:t>What is the magnitude of those differences?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Linear Regression: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Description of the Dataset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(biomarker_df,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3 × 7
     id treatment  ifng response infections   age   bmi
  &lt;int&gt; &lt;chr&gt;     &lt;dbl&gt;    &lt;int&gt;      &lt;int&gt; &lt;dbl&gt; &lt;dbl&gt;
1     1 Placebo    10.0        0          3    57  31.4
2     2 Placebo    14.1        1          1    77  31.9
3     3 Placebo    14.2        0          3    51  35  </a:t>
            </a:r>
          </a:p>
          <a:p>
            <a:pPr lvl="0" indent="0" marL="0">
              <a:buNone/>
            </a:pPr>
            <a:r>
              <a:rPr/>
              <a:t>Each row in the dataset represents one patient enrolled in the study. The variables capture both biological measurements and clinical outcomes:</a:t>
            </a:r>
          </a:p>
          <a:p>
            <a:pPr lvl="0"/>
            <a:r>
              <a:rPr b="1"/>
              <a:t>id</a:t>
            </a:r>
            <a:r>
              <a:rPr/>
              <a:t>: unique patient identifier</a:t>
            </a:r>
          </a:p>
          <a:p>
            <a:pPr lvl="0"/>
            <a:r>
              <a:rPr b="1"/>
              <a:t>treatment</a:t>
            </a:r>
            <a:r>
              <a:rPr/>
              <a:t>: treatment group assignment [placebo or low dose therapy]</a:t>
            </a:r>
          </a:p>
          <a:p>
            <a:pPr lvl="0"/>
            <a:r>
              <a:rPr b="1"/>
              <a:t>ifng</a:t>
            </a:r>
            <a:r>
              <a:rPr/>
              <a:t>: continuous measurement of IFN-γ concentration [immune biomarker]</a:t>
            </a:r>
          </a:p>
          <a:p>
            <a:pPr lvl="0"/>
            <a:r>
              <a:rPr b="1"/>
              <a:t>response</a:t>
            </a:r>
            <a:r>
              <a:rPr/>
              <a:t>: binary clinical outcome [1 = responded to treatment, 0 = no response]</a:t>
            </a:r>
          </a:p>
          <a:p>
            <a:pPr lvl="0"/>
            <a:r>
              <a:rPr b="1"/>
              <a:t>infections</a:t>
            </a:r>
            <a:r>
              <a:rPr/>
              <a:t>: count of infection events during follow-up</a:t>
            </a:r>
          </a:p>
          <a:p>
            <a:pPr lvl="0"/>
            <a:r>
              <a:rPr b="1"/>
              <a:t>age</a:t>
            </a:r>
            <a:r>
              <a:rPr/>
              <a:t>: patient age in years</a:t>
            </a:r>
          </a:p>
          <a:p>
            <a:pPr lvl="0"/>
            <a:r>
              <a:rPr b="1"/>
              <a:t>bmi</a:t>
            </a:r>
            <a:r>
              <a:rPr/>
              <a:t>: body mass index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Linear Regression for IFN-gamma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Expected [average] IFN-γ level for each treatment group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E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rPr>
                              <m:nor/>
                              <m:sty m:val="p"/>
                            </m:rPr>
                            <m:t>IFNy∣treatment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⋅</m:t>
                      </m:r>
                      <m:r>
                        <m:t>t</m:t>
                      </m:r>
                      <m:r>
                        <m:t>r</m:t>
                      </m:r>
                      <m:r>
                        <m:t>e</m:t>
                      </m:r>
                      <m:r>
                        <m:t>a</m:t>
                      </m:r>
                      <m:r>
                        <m:t>t</m:t>
                      </m:r>
                      <m:r>
                        <m:t>m</m:t>
                      </m:r>
                      <m:r>
                        <m:t>e</m:t>
                      </m:r>
                      <m:r>
                        <m:t>n</m:t>
                      </m:r>
                      <m:r>
                        <m:t>t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Where: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sSub>
                      <m:e>
                        <m:r>
                          <m:t>β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  <a:r>
                  <a:rPr/>
                  <a:t> : mean IFN-γ in the reference group [high-dose group]</a:t>
                </a:r>
                <a:br/>
                <a14:m>
                  <m:oMath xmlns:m="http://schemas.openxmlformats.org/officeDocument/2006/math">
                    <m:sSub>
                      <m:e>
                        <m:r>
                          <m:t>β</m:t>
                        </m:r>
                      </m:e>
                      <m:sub>
                        <m:r>
                          <m:t>1</m:t>
                        </m:r>
                      </m:sub>
                    </m:sSub>
                  </m:oMath>
                </a14:m>
                <a:r>
                  <a:rPr/>
                  <a:t> : difference in mean IFN-γ between low dose treatment and placebo</a:t>
                </a:r>
              </a:p>
              <a:p>
                <a:pPr lvl="0"/>
                <a:r>
                  <a:rPr/>
                  <a:t>intercept [</a:t>
                </a:r>
                <a14:m>
                  <m:oMath xmlns:m="http://schemas.openxmlformats.org/officeDocument/2006/math">
                    <m:sSub>
                      <m:e>
                        <m:r>
                          <m:t>β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  <a:r>
                  <a:rPr/>
                  <a:t>] : represents the estimated mean IFN-γ in the high-dose group</a:t>
                </a:r>
              </a:p>
              <a:p>
                <a:pPr lvl="0"/>
                <a:r>
                  <a:rPr/>
                  <a:t>treatment coefficient [</a:t>
                </a:r>
                <a14:m>
                  <m:oMath xmlns:m="http://schemas.openxmlformats.org/officeDocument/2006/math">
                    <m:sSub>
                      <m:e>
                        <m:r>
                          <m:t>β</m:t>
                        </m:r>
                      </m:e>
                      <m:sub>
                        <m:r>
                          <m:t>1</m:t>
                        </m:r>
                      </m:sub>
                    </m:sSub>
                  </m:oMath>
                </a14:m>
                <a:r>
                  <a:rPr/>
                  <a:t>] : represents the estimated difference in mean IFN-γ between groups</a:t>
                </a:r>
              </a:p>
            </p:txBody>
          </p:sp>
        </mc:Choice>
      </mc:AlternateContent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Linear Regression for IFN-gamma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
Call:
lm(formula = ifng ~ treatment, data = biomarker_df)
Residuals:
     Min       1Q   Median       3Q      Max 
-12.9145  -2.7698  -0.5039   3.2670  10.2419 
Coefficients:
                  Estimate Std. Error t value Pr(&gt;|t|)    
(Intercept)        19.5543     0.5711  34.240  &lt; 2e-16 ***
treatmentLow dose  -2.9835     0.8077  -3.694 0.000294 ***
treatmentPlacebo   -8.1065     0.8077 -10.037  &lt; 2e-16 ***
---
Signif. codes:  0 '***' 0.001 '**' 0.01 '*' 0.05 '.' 0.1 ' ' 1
Residual standard error: 4.424 on 177 degrees of freedom
Multiple R-squared:  0.368, Adjusted R-squared:  0.3609 
F-statistic: 51.54 on 2 and 177 DF,  p-value: &lt; 2.2e-16</a:t>
            </a:r>
          </a:p>
          <a:p>
            <a:pPr lvl="0"/>
            <a:r>
              <a:rPr>
                <a:latin typeface="Courier"/>
              </a:rPr>
              <a:t>lm()</a:t>
            </a:r>
            <a:r>
              <a:rPr/>
              <a:t> function in base R fits linear model</a:t>
            </a:r>
          </a:p>
          <a:p>
            <a:pPr lvl="0"/>
            <a:r>
              <a:rPr/>
              <a:t>model estimates the average IFN-gamma level as a function of treatment group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Linear Regression for IFN-gamma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
Call:
lm(formula = ifng ~ treatment, data = biomarker_df)
Residuals:
     Min       1Q   Median       3Q      Max 
-12.9145  -2.7698  -0.5039   3.2670  10.2419 
Coefficients:
                  Estimate Std. Error t value Pr(&gt;|t|)    
(Intercept)        19.5543     0.5711  34.240  &lt; 2e-16 ***
treatmentLow dose  -2.9835     0.8077  -3.694 0.000294 ***
treatmentPlacebo   -8.1065     0.8077 -10.037  &lt; 2e-16 ***
---
Signif. codes:  0 '***' 0.001 '**' 0.01 '*' 0.05 '.' 0.1 ' ' 1
Residual standard error: 4.424 on 177 degrees of freedom
Multiple R-squared:  0.368, Adjusted R-squared:  0.3609 
F-statistic: 51.54 on 2 and 177 DF,  p-value: &lt; 2.2e-16</a:t>
            </a:r>
          </a:p>
          <a:p>
            <a:pPr lvl="0" indent="0" marL="0">
              <a:buNone/>
            </a:pPr>
            <a:r>
              <a:rPr b="1"/>
              <a:t>Interpretation of Treatment Effects</a:t>
            </a:r>
          </a:p>
          <a:p>
            <a:pPr lvl="0" indent="0" marL="0">
              <a:buNone/>
            </a:pPr>
            <a:r>
              <a:rPr/>
              <a:t>Each coefficient represents a difference in mean IFN-γ relative to the reference group [high dose treatment group]:</a:t>
            </a:r>
          </a:p>
          <a:p>
            <a:pPr lvl="0" indent="0" marL="0">
              <a:buNone/>
            </a:pPr>
            <a:r>
              <a:rPr/>
              <a:t>Intercept = 19.55</a:t>
            </a:r>
          </a:p>
          <a:p>
            <a:pPr lvl="0"/>
            <a:r>
              <a:rPr/>
              <a:t>estimated mean IFN-γ in the reference group [high-dose treatment]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Linear Regression for IFN-gamma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
Call:
lm(formula = ifng ~ treatment, data = biomarker_df)
Residuals:
     Min       1Q   Median       3Q      Max 
-12.9145  -2.7698  -0.5039   3.2670  10.2419 
Coefficients:
                  Estimate Std. Error t value Pr(&gt;|t|)    
(Intercept)        19.5543     0.5711  34.240  &lt; 2e-16 ***
treatmentLow dose  -2.9835     0.8077  -3.694 0.000294 ***
treatmentPlacebo   -8.1065     0.8077 -10.037  &lt; 2e-16 ***
---
Signif. codes:  0 '***' 0.001 '**' 0.01 '*' 0.05 '.' 0.1 ' ' 1
Residual standard error: 4.424 on 177 degrees of freedom
Multiple R-squared:  0.368, Adjusted R-squared:  0.3609 
F-statistic: 51.54 on 2 and 177 DF,  p-value: &lt; 2.2e-16</a:t>
            </a:r>
          </a:p>
          <a:p>
            <a:pPr lvl="0" indent="0" marL="0">
              <a:buNone/>
            </a:pPr>
            <a:r>
              <a:rPr b="1"/>
              <a:t>Interpretation of Treatment Effects</a:t>
            </a:r>
          </a:p>
          <a:p>
            <a:pPr lvl="0" indent="0" marL="0">
              <a:buNone/>
            </a:pPr>
            <a:r>
              <a:rPr/>
              <a:t>Low dose: −2.98</a:t>
            </a:r>
          </a:p>
          <a:p>
            <a:pPr lvl="0"/>
            <a:r>
              <a:rPr/>
              <a:t>IFN-γ is about 3 units lower than the high-dose group</a:t>
            </a:r>
          </a:p>
          <a:p>
            <a:pPr lvl="0"/>
            <a:r>
              <a:rPr/>
              <a:t>p = 0.000294 → strong evidence this difference is real</a:t>
            </a:r>
          </a:p>
          <a:p>
            <a:pPr lvl="0" indent="0" marL="0">
              <a:buNone/>
            </a:pPr>
            <a:r>
              <a:rPr/>
              <a:t>Placebo: −8.11</a:t>
            </a:r>
          </a:p>
          <a:p>
            <a:pPr lvl="0"/>
            <a:r>
              <a:rPr/>
              <a:t>IFN-γ is about 8 units lower than the high-dose group</a:t>
            </a:r>
          </a:p>
          <a:p>
            <a:pPr lvl="0"/>
            <a:r>
              <a:rPr/>
              <a:t>p &lt; 2e−16 → strong evidence of a difference between groups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Linear Regression for IFN-gamma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
Call:
lm(formula = ifng ~ treatment, data = biomarker_df)
Residuals:
     Min       1Q   Median       3Q      Max 
-12.9145  -2.7698  -0.5039   3.2670  10.2419 
Coefficients:
                  Estimate Std. Error t value Pr(&gt;|t|)    
(Intercept)        19.5543     0.5711  34.240  &lt; 2e-16 ***
treatmentLow dose  -2.9835     0.8077  -3.694 0.000294 ***
treatmentPlacebo   -8.1065     0.8077 -10.037  &lt; 2e-16 ***
---
Signif. codes:  0 '***' 0.001 '**' 0.01 '*' 0.05 '.' 0.1 ' ' 1
Residual standard error: 4.424 on 177 degrees of freedom
Multiple R-squared:  0.368, Adjusted R-squared:  0.3609 
F-statistic: 51.54 on 2 and 177 DF,  p-value: &lt; 2.2e-16</a:t>
            </a:r>
          </a:p>
          <a:p>
            <a:pPr lvl="0" indent="0" marL="0">
              <a:buNone/>
            </a:pPr>
            <a:r>
              <a:rPr b="1"/>
              <a:t>Interpretation of Treatment Effects</a:t>
            </a:r>
          </a:p>
          <a:p>
            <a:pPr lvl="0" indent="0" marL="0">
              <a:buNone/>
            </a:pPr>
            <a:r>
              <a:rPr/>
              <a:t>Suggested dose–response pattern:</a:t>
            </a:r>
          </a:p>
          <a:p>
            <a:pPr lvl="0" indent="0" marL="0">
              <a:buNone/>
            </a:pPr>
            <a:r>
              <a:rPr/>
              <a:t>Highest IFN-γ response: high-dose treatment Intermediate IFN-γ response: low dose Lowest IFN-γ response: placebo</a:t>
            </a:r>
          </a:p>
          <a:p>
            <a:pPr lvl="0"/>
            <a:r>
              <a:rPr/>
              <a:t>therapy increases immune activation</a:t>
            </a:r>
          </a:p>
          <a:p>
            <a:pPr lvl="0"/>
            <a:r>
              <a:rPr/>
              <a:t>magnitude of increase is dose-dependent</a:t>
            </a:r>
          </a:p>
          <a:p>
            <a:pPr lvl="0"/>
            <a:r>
              <a:rPr/>
              <a:t>intervention is mechanistically active</a:t>
            </a:r>
          </a:p>
          <a:p>
            <a:pPr lvl="0"/>
            <a:r>
              <a:rPr/>
              <a:t>linear model estimates group-specific mean IFN-γ levels</a:t>
            </a:r>
          </a:p>
          <a:p>
            <a:pPr lvl="0"/>
            <a:r>
              <a:rPr/>
              <a:t>quantifies differences between treatment groups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Visualizing Fitted Means from the Linear Model</a:t>
            </a:r>
          </a:p>
        </p:txBody>
      </p:sp>
      <p:pic>
        <p:nvPicPr>
          <p:cNvPr descr="test_2_082025_pptx_files/figure-pptx/unnamed-chunk-6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Interpretation</a:t>
            </a:r>
          </a:p>
          <a:p>
            <a:pPr lvl="0"/>
            <a:r>
              <a:rPr/>
              <a:t>bar plot showing estimated mean IFN-gamma levels for each treatment group based our linear model</a:t>
            </a:r>
          </a:p>
          <a:p>
            <a:pPr lvl="0"/>
            <a:r>
              <a:rPr/>
              <a:t>High dose: estimated mean ≈ 19.6 pg/mL [model intercept]</a:t>
            </a:r>
          </a:p>
          <a:p>
            <a:pPr lvl="0"/>
            <a:r>
              <a:rPr/>
              <a:t>Low dose: estimated group mean difference ≈ 16.6 pg/mL [19.55−2.98=16.57]</a:t>
            </a:r>
          </a:p>
          <a:p>
            <a:pPr lvl="0"/>
            <a:r>
              <a:rPr/>
              <a:t>Placebo: estimated group mean difference ≈ 11.5 pg/mL [19.55−8.11=11.45]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Logistic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logistic regression</a:t>
            </a:r>
            <a:r>
              <a:rPr/>
              <a:t> : models how the probability of an event changes across predictors for binary outcomes</a:t>
            </a:r>
          </a:p>
          <a:p>
            <a:pPr lvl="0"/>
            <a:r>
              <a:rPr/>
              <a:t>estimates and interprets how predictors influence the probability of a binary outcome</a:t>
            </a:r>
          </a:p>
          <a:p>
            <a:pPr lvl="0"/>
            <a:r>
              <a:rPr/>
              <a:t>models the probability that an event occurs as a function of predictors</a:t>
            </a:r>
          </a:p>
          <a:p>
            <a:pPr lvl="0"/>
            <a:r>
              <a:rPr/>
              <a:t>model estimates differences in event probability expressed through odds</a:t>
            </a:r>
          </a:p>
          <a:p>
            <a:pPr lvl="0"/>
            <a:r>
              <a:rPr/>
              <a:t>model provides estimated probabilities for each group and uncertainty through standard errors and confidence intervals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Logistic Regression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Model expresses the log-odds of the event as a linear function of the predictors: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m:t>log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f>
                            <m:fPr>
                              <m:type m:val="bar"/>
                            </m:fPr>
                            <m:num>
                              <m:r>
                                <m:t>p</m:t>
                              </m:r>
                            </m:num>
                            <m:den>
                              <m: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p</m:t>
                              </m:r>
                            </m:den>
                          </m:f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r>
                        <m:t>X</m:t>
                      </m:r>
                    </m:oMath>
                  </m:oMathPara>
                </a14:m>
              </a:p>
              <a:p>
                <a:pPr lvl="0"/>
                <a:r>
                  <a:rPr/>
                  <a:t>formula states that the logarithm of the event odds is modeled as a linear function of the predictors</a:t>
                </a:r>
              </a:p>
              <a:p>
                <a:pPr lvl="0"/>
                <a14:m>
                  <m:oMath xmlns:m="http://schemas.openxmlformats.org/officeDocument/2006/math">
                    <m:r>
                      <m:t>p</m:t>
                    </m:r>
                  </m:oMath>
                </a14:m>
                <a:r>
                  <a:rPr/>
                  <a:t> : probability of the event for a given value of </a:t>
                </a:r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a:p>
              <a:p>
                <a:pPr lvl="1" indent="0" marL="342900">
                  <a:buNone/>
                </a:pPr>
                <a:r>
                  <a:rPr/>
                  <a:t>e.x.: probability that a patient responds to treatment [responder vs. non-responder]</a:t>
                </a:r>
              </a:p>
              <a:p>
                <a:pPr lvl="0"/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p</m:t>
                        </m:r>
                      </m:num>
                      <m:den>
                        <m:r>
                          <m:t>1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p</m:t>
                        </m:r>
                      </m:den>
                    </m:f>
                  </m:oMath>
                </a14:m>
                <a:r>
                  <a:rPr/>
                  <a:t> : compares the probability the event occurs to the probability it does not</a:t>
                </a:r>
              </a:p>
              <a:p>
                <a:pPr lvl="1" indent="0" marL="342900">
                  <a:buNone/>
                </a:pPr>
                <a:r>
                  <a:rPr/>
                  <a:t>how likely the event is to occur relative to non-occurrence</a:t>
                </a:r>
              </a:p>
              <a:p>
                <a:pPr lvl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log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f>
                          <m:fPr>
                            <m:type m:val="bar"/>
                          </m:fPr>
                          <m:num>
                            <m:r>
                              <m:t>p</m:t>
                            </m:r>
                          </m:num>
                          <m:den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p</m:t>
                            </m:r>
                          </m:den>
                        </m:f>
                      </m:e>
                    </m:d>
                  </m:oMath>
                </a14:m>
                <a:r>
                  <a:rPr/>
                  <a:t> : log-odds [logit]</a:t>
                </a:r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β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  <a:r>
                  <a:rPr/>
                  <a:t> : intercept</a:t>
                </a:r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β</m:t>
                        </m:r>
                      </m:e>
                      <m:sub>
                        <m:r>
                          <m:t>1</m:t>
                        </m:r>
                      </m:sub>
                    </m:sSub>
                  </m:oMath>
                </a14:m>
                <a:r>
                  <a:rPr/>
                  <a:t> : coefficient associated with the predictor</a:t>
                </a:r>
              </a:p>
              <a:p>
                <a:pPr lvl="0"/>
                <a14:m>
                  <m:oMath xmlns:m="http://schemas.openxmlformats.org/officeDocument/2006/math">
                    <m:r>
                      <m:t>X</m:t>
                    </m:r>
                  </m:oMath>
                </a14:m>
                <a:r>
                  <a:rPr/>
                  <a:t> : predictor</a:t>
                </a:r>
              </a:p>
            </p:txBody>
          </p:sp>
        </mc:Choice>
      </mc:AlternateContent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Logistic Regression for Response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Research Question:</a:t>
            </a:r>
          </a:p>
          <a:p>
            <a:pPr lvl="0" indent="0" marL="1270000">
              <a:buNone/>
            </a:pPr>
            <a:r>
              <a:rPr sz="2000"/>
              <a:t>How does treatment affect the probability of clinical response?</a:t>
            </a:r>
          </a:p>
          <a:p>
            <a:pPr lvl="0" indent="0" marL="0">
              <a:buNone/>
            </a:pPr>
            <a:r>
              <a:rPr/>
              <a:t>Where:</a:t>
            </a:r>
          </a:p>
          <a:p>
            <a:pPr lvl="0"/>
            <a:r>
              <a:rPr/>
              <a:t>reference group is the high-dose treatment group</a:t>
            </a:r>
          </a:p>
          <a:p>
            <a:pPr lvl="0"/>
            <a:r>
              <a:rPr/>
              <a:t>model estimates:</a:t>
            </a:r>
          </a:p>
          <a:p>
            <a:pPr lvl="1"/>
            <a:r>
              <a:rPr/>
              <a:t>baseline log-odds [high dose]</a:t>
            </a:r>
          </a:p>
          <a:p>
            <a:pPr lvl="1"/>
            <a:r>
              <a:rPr/>
              <a:t>differences in log-odds for low dose and placebo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Logistic Regression for Response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
Call:
glm(formula = response ~ treatment, family = binomial(), data = biomarker_df)
Coefficients:
                  Estimate Std. Error z value Pr(&gt;|z|)    
(Intercept)         0.9280     0.2865   3.239  0.00120 ** 
treatmentLow dose  -1.1963     0.3872  -3.089  0.00201 ** 
treatmentPlacebo   -2.0266     0.4135  -4.901 9.52e-07 ***
---
Signif. codes:  0 '***' 0.001 '**' 0.01 '*' 0.05 '.' 0.1 ' ' 1
(Dispersion parameter for binomial family taken to be 1)
    Null deviance: 248.73  on 179  degrees of freedom
Residual deviance: 221.12  on 177  degrees of freedom
AIC: 227.12
Number of Fisher Scoring iterations: 4</a:t>
            </a:r>
          </a:p>
          <a:p>
            <a:pPr lvl="0" indent="0" marL="0">
              <a:buNone/>
            </a:pPr>
            <a:r>
              <a:rPr b="1"/>
              <a:t>Interpretation</a:t>
            </a:r>
          </a:p>
          <a:p>
            <a:pPr lvl="0" indent="0" marL="0">
              <a:buNone/>
            </a:pPr>
            <a:r>
              <a:rPr/>
              <a:t>Intercept [Baseline Probability]</a:t>
            </a:r>
          </a:p>
          <a:p>
            <a:pPr lvl="0"/>
            <a:r>
              <a:rPr/>
              <a:t>Intercept = 0.928 - log-odds of response in the high-dose group</a:t>
            </a:r>
          </a:p>
          <a:p>
            <a:pPr lvl="0" indent="0" marL="0">
              <a:buNone/>
            </a:pPr>
            <a:r>
              <a:rPr/>
              <a:t>Treatment Effects</a:t>
            </a:r>
          </a:p>
          <a:p>
            <a:pPr lvl="0"/>
            <a:r>
              <a:rPr/>
              <a:t>treatment coefficients : estimated difference in log-odds of response relative to high dose group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Logistic Regression for Response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Interpretation</a:t>
                </a:r>
              </a:p>
              <a:p>
                <a:pPr lvl="0"/>
                <a:r>
                  <a:rPr/>
                  <a:t>model estimates a difference in log-odds</a:t>
                </a:r>
              </a:p>
              <a:p>
                <a:pPr lvl="0"/>
                <a:r>
                  <a:rPr/>
                  <a:t>exponentiating converts this into an odds ratio</a:t>
                </a:r>
              </a:p>
              <a:p>
                <a:pPr lvl="0"/>
                <a:r>
                  <a:rPr/>
                  <a:t>odds ratio tells you how many times larger or smaller the odds are in one group compared to a reference group</a:t>
                </a:r>
              </a:p>
              <a:p>
                <a:pPr lvl="0" indent="0" marL="0">
                  <a:buNone/>
                </a:pPr>
                <a:r>
                  <a:rPr/>
                  <a:t>Low Dose vs High Dose</a:t>
                </a:r>
              </a:p>
              <a:p>
                <a:pPr lvl="0"/>
                <a:r>
                  <a:rPr/>
                  <a:t>estimate = −1.196</a:t>
                </a:r>
              </a:p>
              <a:p>
                <a:pPr lvl="0"/>
                <a:r>
                  <a:rPr/>
                  <a:t>odds ratio = </a:t>
                </a:r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1.196</m:t>
                        </m:r>
                      </m:sup>
                    </m:sSup>
                  </m:oMath>
                </a14:m>
                <a:r>
                  <a:rPr/>
                  <a:t> ≈0.30</a:t>
                </a:r>
              </a:p>
              <a:p>
                <a:pPr lvl="0"/>
                <a:r>
                  <a:rPr/>
                  <a:t>patients on low dose have about 70% lower odds of response compared to high dose</a:t>
                </a:r>
              </a:p>
              <a:p>
                <a:pPr lvl="0"/>
                <a:r>
                  <a:rPr/>
                  <a:t>p = 0.002 : statistically significant association</a:t>
                </a:r>
              </a:p>
            </p:txBody>
          </p:sp>
        </mc:Choice>
      </mc:AlternateContent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Logistic Regression for Response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Interpretation</a:t>
                </a:r>
              </a:p>
              <a:p>
                <a:pPr lvl="0" indent="0" marL="0">
                  <a:buNone/>
                </a:pPr>
                <a:r>
                  <a:rPr/>
                  <a:t>Placebo vs High Dose</a:t>
                </a:r>
              </a:p>
              <a:p>
                <a:pPr lvl="0"/>
                <a:r>
                  <a:rPr/>
                  <a:t>estimate = −2.027</a:t>
                </a:r>
              </a:p>
              <a:p>
                <a:pPr lvl="0"/>
                <a:r>
                  <a:rPr/>
                  <a:t>odds ratio = </a:t>
                </a:r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2.207</m:t>
                        </m:r>
                      </m:sup>
                    </m:sSup>
                  </m:oMath>
                </a14:m>
                <a:r>
                  <a:rPr/>
                  <a:t> ≈0.13</a:t>
                </a:r>
              </a:p>
              <a:p>
                <a:pPr lvl="0"/>
                <a:r>
                  <a:rPr/>
                  <a:t>placebo patients have about 87% lower odds of response compared to high dose</a:t>
                </a:r>
              </a:p>
              <a:p>
                <a:pPr lvl="0"/>
                <a:r>
                  <a:rPr/>
                  <a:t>p &lt; 0.001 : statistically significant association</a:t>
                </a:r>
              </a:p>
              <a:p>
                <a:pPr lvl="0" indent="0" marL="0">
                  <a:buNone/>
                </a:pPr>
                <a:r>
                  <a:rPr/>
                  <a:t>Note:</a:t>
                </a:r>
              </a:p>
              <a:p>
                <a:pPr lvl="0"/>
                <a:r>
                  <a:rPr/>
                  <a:t>odds ratio = 1 : equal odds relative to the reference group</a:t>
                </a:r>
              </a:p>
              <a:p>
                <a:pPr lvl="0"/>
                <a:r>
                  <a:rPr/>
                  <a:t>odds ratio &gt; 1 : higher odds of response than the reference group</a:t>
                </a:r>
              </a:p>
              <a:p>
                <a:pPr lvl="0"/>
                <a:r>
                  <a:rPr/>
                  <a:t>odds ratio &lt; 1 : lower odds of response than the reference group</a:t>
                </a:r>
              </a:p>
            </p:txBody>
          </p:sp>
        </mc:Choice>
      </mc:AlternateContent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Logistic Regression for Response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Note:</a:t>
            </a:r>
          </a:p>
          <a:p>
            <a:pPr lvl="0"/>
            <a:r>
              <a:rPr/>
              <a:t>odds ratio = 1 : equal odds relative to the reference group</a:t>
            </a:r>
          </a:p>
          <a:p>
            <a:pPr lvl="0"/>
            <a:r>
              <a:rPr/>
              <a:t>odds ratio &gt; 1 : higher odds of response than the reference group</a:t>
            </a:r>
          </a:p>
          <a:p>
            <a:pPr lvl="0"/>
            <a:r>
              <a:rPr/>
              <a:t>odds ratio &lt; 1 : lower odds of response than the reference group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Review: Model-Based Estimation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model-based estimates can:</a:t>
            </a:r>
          </a:p>
          <a:p>
            <a:pPr lvl="0"/>
            <a:r>
              <a:rPr/>
              <a:t>compare multiple groups at once</a:t>
            </a:r>
          </a:p>
          <a:p>
            <a:pPr lvl="0"/>
            <a:r>
              <a:rPr/>
              <a:t>adjust for additional predictors</a:t>
            </a:r>
          </a:p>
          <a:p>
            <a:pPr lvl="0"/>
            <a:r>
              <a:rPr/>
              <a:t>provide fitted values on appropriate scales</a:t>
            </a:r>
          </a:p>
          <a:p>
            <a:pPr lvl="0"/>
            <a:r>
              <a:rPr/>
              <a:t>estimate interpretable contrasts such as mean differences, odds ratios, and rate ratios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likelihood evaluates how plausible the observed data are under different parameter values</a:t>
                </a:r>
              </a:p>
              <a:p>
                <a:pPr lvl="0"/>
                <a:r>
                  <a:rPr/>
                  <a:t>maximum likelihood estimation selects the parameter values that make the observed data most plausible under the model</a:t>
                </a:r>
              </a:p>
              <a:p>
                <a:pPr lvl="0"/>
                <a:r>
                  <a:rPr/>
                  <a:t>probability models and likelihood to extend estimation from summaries to structured predictor-outcome relationships</a:t>
                </a:r>
              </a:p>
              <a:p>
                <a:pPr lvl="0"/>
                <a:r>
                  <a:rPr/>
                  <a:t>linear regression models conditional means for continuous outcomes with coefficients representing how the expected population average changes with predictors.</a:t>
                </a:r>
              </a:p>
              <a:p>
                <a:pPr lvl="0"/>
                <a:r>
                  <a:rPr/>
                  <a:t>logistic regression models log-odds for binary outcomes and yields odds-ratio interpretations after exponentiation</a:t>
                </a:r>
              </a:p>
              <a:p>
                <a:pPr lvl="0"/>
                <a:r>
                  <a:rPr/>
                  <a:t>exponentiated coefficients give odds ratios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quantifying relative changes in outcome likelihood</a:t>
                </a:r>
              </a:p>
              <a:p>
                <a:pPr lvl="0"/>
                <a:r>
                  <a:rPr/>
                  <a:t>later regression lectures will build on concepts introduced in the current lecture</a:t>
                </a:r>
              </a:p>
            </p:txBody>
          </p:sp>
        </mc:Choice>
      </mc:AlternateContent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Likelihood-Based Estimation</dc:title>
  <dc:creator> Lesley Chapman Hannah, Ph.D., M.S. College of Graduate Studies Northeast Ohio Medical University</dc:creator>
  <cp:keywords/>
  <dcterms:created xsi:type="dcterms:W3CDTF">2026-04-27T18:36:26Z</dcterms:created>
  <dcterms:modified xsi:type="dcterms:W3CDTF">2026-04-27T18:36:26Z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xecute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toc-title">
    <vt:lpwstr>Table of contents</vt:lpwstr>
  </property>
</Properties>
</file>